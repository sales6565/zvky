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Companion to the full User Manual and Reference. This deck is the ten-minute version; the manual is the one to follow at a keyboard.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numbers are the whole design: a fixed pipeline, a role system fine enough to match a real studio, and one rule about focus.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Worth demonstrating live: sign in as an artist and as a producer and show the tour differing.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moves connect these ten stages. The manual has the full table; this deck shows the shape.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Flag this one in induction: the permissions here are narrow out of the box, and a studio must grant them before producers and directors can use the feature.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thirteen bands are generated from the permission table, not written by hand. Appendix A of the manual lists every designation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standing rule: every feature prompt from here on should say what the documentation needs added.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2148840"/>
            <a:ext cx="566928" cy="566928"/>
          </a:xfrm>
          <a:prstGeom prst="roundRect">
            <a:avLst>
              <a:gd name="adj" fmla="val 19355"/>
            </a:avLst>
          </a:prstGeom>
          <a:solidFill>
            <a:srgbClr val="7F141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488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21031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spc="400" kern="0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ZVKY FORGE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1627632" y="2697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 asset &amp; animation pipeline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118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Studio Pipeline Overview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1605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per module, with screenshots from the running application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7607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induction deck  ·  built 2026-09-05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OF IT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place where every piece of work lives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from Not Assigned to Delivered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19856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02736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3621024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designations, each with its own view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72784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</a:t>
            </a:r>
            <a:endParaRPr lang="en-US" sz="5400" dirty="0"/>
          </a:p>
        </p:txBody>
      </p:sp>
      <p:sp>
        <p:nvSpPr>
          <p:cNvPr id="15" name="Text 13"/>
          <p:cNvSpPr txBox="1"/>
          <p:nvPr/>
        </p:nvSpPr>
        <p:spPr>
          <a:xfrm>
            <a:off x="6473952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 Super Admin controls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25712" y="214884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08592" y="23774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291840"/>
            <a:ext cx="2240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task per person at a time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48006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asset carries who did what and when. Nothing moves except through a recorded step, and every step is one somebody was allowed to take.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deck covers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 in, the tour, the header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2180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32180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2180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Assets, and bulk upload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32180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8-9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 and preview images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32180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10-11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workflow, and one active task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12-14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review gates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532180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15-16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and the client loop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2180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 and Pending Actions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236208" y="25146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0991088" y="25146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236208" y="30175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0991088" y="30175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236208" y="35204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0991088" y="352044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236208" y="40233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10991088" y="402336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236208" y="45262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 and your profile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991088" y="45262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236208" y="5029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and permissions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991088" y="50292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24-26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236208" y="55321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10991088" y="553212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236208" y="20116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documentation current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0991088" y="201168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Signing in, and the tour that meets you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with the email the studio issued and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guided Quick Tour opens by itself the first time. It walks only the tabs your designation actually gives you.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question-mark icon in the header reopens it whenever you want.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 need 10 characters, upper and lower case, a number and a symbol.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The tour needs no permission and shows each person a different walk.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28570"/>
            <a:ext cx="5632704" cy="236662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491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tour opening on a first sign-in. Seven steps for a Game Artist.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AROUND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header decides what you are looking at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Client, then Project — everything below follows the pair you choose 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and designation, so you always know which view you are 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notifications; the question mark reopens the tour.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 row is built from your permissions. Nobody sees a tab they cannot use.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but no two designations see the same tab row.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3513974"/>
            <a:ext cx="5632704" cy="19581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38195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header, from the brand mark to Log out.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board answers "where is this?"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column per stage, one card per asset.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strip above counts every stage and the share of the project that is finished.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shows the preview image, the code, the estimate, the name and who holds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counts are what YOU may see — an artist and a producer read different numbers off the same project.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Everybody. Reach comes from the designation, not from the screen.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19823"/>
            <a:ext cx="5632704" cy="258411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01366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Dashboard as a Super Admin sees it.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AND 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Projects sit under clients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project against a client, and name the team leads who run its first review gate.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production coordinators if the studio uses them.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up to two people to supervise it — the cap is enforced by the server, because five supervisors means none.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project is closed rather than deleted, so its assets and history stay readable.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Everyone else sees the clients they work under.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203704"/>
            <a:ext cx="5632704" cy="281635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12978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new-project form.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asset, or two hundred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Asset takes a name and a scope of work; the code is generated (CHR-004).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Upload Assets takes a spreadsheet of nine columns — press Sample format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bad row is reported with its row number and reason; the good rows still import.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unrecognised column heading is reported, never silently dropped.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— 23 designations. Deleting an asset is administration only.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78838"/>
            <a:ext cx="5632704" cy="326608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5465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on its Active sub-tab.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sub-tabs, and an asset is in exactly one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— everything still moving.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Inactive — work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— delivered, kept for the record.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— every stage change, who made it and when.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several rows to deliver them in one action; each is still recorded individually.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sees the list. Bulk delivery sits with the delivery band — 18 designations.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7986"/>
            <a:ext cx="5632704" cy="164778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55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History sub-tab.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about one asset, in one place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from any card or any row.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image, code, name, stage, and Time Spent at the top.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brief, the estimate, the deadline, the category, the priority and the description.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Tasks, notes, submissions and the asset’s own history further down.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who can see the asset. What you may change depends on your designation.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panel.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IMAGES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Upload a file, or paste a link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 JPG or PNG of up to 5 MB, or paste an http/https image address.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holds one or the other, never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linked image stays current with its source — and falls back to the scope-of-work icon if the link dies, rather than showing a broken picture.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setting and removing are recorded in the Activity Log, naming the person and the kind.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assignee can always set their own asset’s preview. Anybody else needs Asset Edit.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with an uploaded preview, in progress.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stages, and no way round them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6E6A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212848"/>
            <a:ext cx="146304" cy="146304"/>
          </a:xfrm>
          <a:prstGeom prst="ellipse">
            <a:avLst/>
          </a:prstGeom>
          <a:solidFill>
            <a:srgbClr val="6E6A6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50976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Assigned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50976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834640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B8DE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99232" y="2212848"/>
            <a:ext cx="146304" cy="146304"/>
          </a:xfrm>
          <a:prstGeom prst="ellipse">
            <a:avLst/>
          </a:prstGeom>
          <a:solidFill>
            <a:srgbClr val="5B8D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218688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218688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02352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C892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66944" y="2212848"/>
            <a:ext cx="146304" cy="146304"/>
          </a:xfrm>
          <a:prstGeom prst="ellipse">
            <a:avLst/>
          </a:prstGeom>
          <a:solidFill>
            <a:srgbClr val="C8922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0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0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70064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7B9B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34656" y="2212848"/>
            <a:ext cx="146304" cy="146304"/>
          </a:xfrm>
          <a:prstGeom prst="ellipse">
            <a:avLst/>
          </a:prstGeom>
          <a:solidFill>
            <a:srgbClr val="7B9BD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54112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Review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637776" y="20116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802368" y="22128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21824" y="21214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 Feedbacks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21824" y="26334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66928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9B7E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3584448"/>
            <a:ext cx="146304" cy="146304"/>
          </a:xfrm>
          <a:prstGeom prst="ellipse">
            <a:avLst/>
          </a:prstGeom>
          <a:solidFill>
            <a:srgbClr val="9B7EF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50976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Review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0976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34640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E84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999232" y="3584448"/>
            <a:ext cx="146304" cy="146304"/>
          </a:xfrm>
          <a:prstGeom prst="ellipse">
            <a:avLst/>
          </a:prstGeom>
          <a:solidFill>
            <a:srgbClr val="E84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218688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 Feedbacks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3218688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102352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3FA9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66944" y="3584448"/>
            <a:ext cx="146304" cy="146304"/>
          </a:xfrm>
          <a:prstGeom prst="ellipse">
            <a:avLst/>
          </a:prstGeom>
          <a:solidFill>
            <a:srgbClr val="3FA96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0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for Client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0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70064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2FA3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534656" y="3584448"/>
            <a:ext cx="146304" cy="146304"/>
          </a:xfrm>
          <a:prstGeom prst="ellipse">
            <a:avLst/>
          </a:prstGeom>
          <a:solidFill>
            <a:srgbClr val="2FA3B5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754112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Client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754112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637776" y="3383280"/>
            <a:ext cx="2048256" cy="1051560"/>
          </a:xfrm>
          <a:prstGeom prst="roundRect">
            <a:avLst>
              <a:gd name="adj" fmla="val 6087"/>
            </a:avLst>
          </a:prstGeom>
          <a:solidFill>
            <a:srgbClr val="1E1A19"/>
          </a:solidFill>
          <a:ln w="19050">
            <a:solidFill>
              <a:srgbClr val="54B84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802368" y="3584448"/>
            <a:ext cx="146304" cy="146304"/>
          </a:xfrm>
          <a:prstGeom prst="ellipse">
            <a:avLst/>
          </a:prstGeom>
          <a:solidFill>
            <a:srgbClr val="54B84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10021824" y="3493008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0021824" y="40050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50292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at either gate sends the asset back a stage, not to the beginning. Stage colours are deliberately distinct from the brand colour, so a red card never reads as branding.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WORK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Accept and Start, then Submit for Review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and Start moves the asset to In Progress and stamps the time.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is the gap between that stamp and your submission, less any stretch put on hold.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for Review sends it to the first gate with the file or the link attached.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cannot submit work you never started, which is what makes Time Spent mean anything.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asset is assigned to,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accepting. Time Spent reads 0s.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project is, and how it is going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Category, Start Date and End Date describe the project. They are set on Add Project and are plain information — nothing warns or blocks when an end date passes.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"+ Add Category" creates a category from inside the form and selects it straight away.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Bid Hours adds up every asset’s Man Hours — every asset, at every stage, including delivered ones.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Spent Time adds up every round of every asset, held time excluded. The same figure the Efficiency report shows.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Neither figure is stored. Both are counted from the assets each time the tab is drawn, so they are never out of date.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can see clients sees the columns. Creating and editing projects is the existing project permission; managing the Project Categories list is its own Settings permission, separate from asset categories.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25319"/>
            <a:ext cx="5632704" cy="177312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60816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projects under a client.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ASSIGN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out and schedule a batch in one action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the assets on the Assets List — Inactive sub-tab — and press Assign &amp; Schedule.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assignee, one Start Date, one End Date, applied to all of them. Each field is optional.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work nobody has started. Anything already on somebody’s desk is skipped and listed with the reason.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asset gets its own Round, its own history line and its own notification, exactly as a single assignment does.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says how many of your selection it will touch before you press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alone out of the box. Granted in Settings to the coordinators who plan work — which opens the bulk panel without widening whose assets anybody may touch.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11948"/>
            <a:ext cx="5632704" cy="159986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21540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Assets List, where a batch is selected.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AT A TIME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active task, enforced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one of your assets is open, Accept and Start on every other one is disabled.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names the asset that is holding you up.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the open one and every other unlocks immediately.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on the server as well as the screen, so a second browser tab does not get 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restricts starting your own work and nothing else — reviewing, approving and time sheets are untouched.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 to everybody who accepts work. A lead with an asset under way still runs their queue.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asset, refused, naming the open one.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a task down without handing it in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stops the count on a task and frees you to start another one.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held time is left out of that asset’s Time Spent. Say why in a line, or leave it blank.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stays in its stage and carries an On hold badge, so a lead can see the work has stopped.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obeys the same one-task rule as starting, so holding is not a way around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Spent now depends on people pressing the button, exactly as the Time Sheet does.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person the task is assigned to, with Hold / Resume Own Task — on for every designation by default, and switchable off in Settings. Nobody can hold somebody else’s task in this version.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in progress, where the Hold button sits.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team lead sees it first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to send it on to the Creative Director.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changes to send it back as TL Feedbacks, with a note.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without a Creative Director gate can send straight to Approved for Client, if the reviewer holds that permission.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comes back through this same gate.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 — 23 designations: leads, supervisors, production and creative direction.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TL Review.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REVIEW GATE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Creative Director, and the relay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for client, or Submit Feedback — one action, not two competing decisions.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goes to CD Feedbacks, which sits with the team lead first.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lead reads the notes, adds their own reading, and relays them to the artist.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they do, the artist cannot start the rework — and the application says so plainly.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 — 9 designations: art direction and above.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677" y="1371600"/>
            <a:ext cx="1845991" cy="4480560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96188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asset at CD Review.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out of the studio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— handed over, and the asset is Delivered. One step.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client review — the asset waits at Awaiting Client Feedback.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approved sends it to Delivered; client changes send it back to TL Feedbacks and round again.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studio uses whichever route matches how it works with that client.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— 18 designations. The whole client-feedback loop is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95305"/>
            <a:ext cx="5632704" cy="163315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38183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later columns on the board.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REVIEWS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project, not an asset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producer sends a project to the Creative Director with a question.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lands in the reviewer’s Pending Actions, which carries a count and highlights while something waits.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reviewer answers with Submit Feedback; the submitter is notified at once.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submitter reads it and presses Acknowledge and Close.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submissions never appear in your queue to answer, only in your queue to read.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Admin. Sending, and seeing your own submissions, are Super Admin only until granted.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811110"/>
            <a:ext cx="5632704" cy="360153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522378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Actions, as the Creative Director.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SHEET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day at a time, in IST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 is a number of HOURS against a project, an asset or non-project time. No start and end times.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an asset and the hours it recorded that day are offered — a suggestion in a field you can change.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over 8 hours is flagged, not refused. A long day is real; a form that refuses one is not.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is daily, and nobody approves it. Submitting locks the day; its owner can reopen it.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lead reads their team’s hours and nothing more — the approval queue is gone.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fills in their own. Reading a team’s sits with leads and producers — 18 designations. There is no Approve Timesheets permission any more.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345627"/>
            <a:ext cx="5632704" cy="2532505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87861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week of Draft and Submitted days.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Estimate against actual, and time with nothing open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Efficiency compares each asset’s man hours against Time Spent, by user, asset, project or scope of work.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how many assets had time held back, and Idle counts that same held time as idle — the two reports are meant to disagree there.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is working time during which somebody had nothing started.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counts against the configured working hours, so evenings and lunch are not counted as idle.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Now answers the immediate question: who has nothing open right now.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exports to Excel and PDF, named after the view you were looking at.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plus anyone given View Reports. Team Lead is a common addition.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918014"/>
            <a:ext cx="5632704" cy="338773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41547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Idle report.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staff list, and your own team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person with their name, sign-in email, designation, reporting line and project.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designation can do comes from the tier behind it — pick the closest match.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import takes name, email and role as required columns.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 shows the people who report to you, what they are carrying and how far along it is.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 — 8 designations. My Team is open to anyone who supervises people — 14.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869086"/>
            <a:ext cx="5632704" cy="1485589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464402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Team, as a Team Lead.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Talk to anybody; groups are for the people who run work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speech-bubble icon beside the bell. One to one with anybody in the studio, with no permission needed.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hold thirty people, counting whoever made them, and are started by Leads, Production and Creative Direction.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owner renames the group, adds and removes people; anybody can leave. An owner who leaves hands it 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Files: .png, .jpg, .svg, .webp, .mov, .mp4 up to 30MB — deleted after eight hours. The message stays and says the file expired.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to the people in it. No Super Admin view, no export, and no permission that could create one.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 chats. Production planning and creative direction — 25 designations — may start a group.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430413"/>
            <a:ext cx="5632704" cy="2362934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903075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one-to-one conversation.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Notifications, your photo, your password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bell carries unread notifications: work assigned to you, reviews coming back, feedback landing.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holds your photo, which then appears everywhere you are represented.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also holds your password.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your password signs out every other session — deliberately, since a password is changed because it may be known.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Everybody, for themselves.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023074"/>
            <a:ext cx="5632704" cy="3177612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310414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Profile panel.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one screen, but the ones you hold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hours — the standard day the Idle report measures against.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Branding — the studio name and the colour used across the application.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value lists: Scope of Work, Priorities, Asset Categories, Project Categories and Roles.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Renaming a value is safe; a value in use cannot be deleted, only deactivated.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given one Settings permission gets this page with exactly that one section on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designations, one permission per section.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2786972"/>
            <a:ext cx="5632704" cy="1649816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4546516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working-hours control.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access bands, not sixty role lists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55448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permissions across 60 designations, in only thirteen distinct groups of holders.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permissions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28416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79392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43984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who works on assets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443984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991856" y="22860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56448" y="23408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56448" y="26974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753344" y="23774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566928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review gate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328416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4279392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443984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and producers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443984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7991856" y="32004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552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supervises people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156448" y="36118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753344" y="32918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32" name="Shape 30"/>
          <p:cNvSpPr/>
          <p:nvPr/>
        </p:nvSpPr>
        <p:spPr>
          <a:xfrm>
            <a:off x="566928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328416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36" name="Shape 34"/>
          <p:cNvSpPr/>
          <p:nvPr/>
        </p:nvSpPr>
        <p:spPr>
          <a:xfrm>
            <a:off x="4279392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443984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direction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permissions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7040880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7991856" y="41148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56448" y="41696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Administration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8156448" y="45262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permissions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753344" y="42062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44" name="Shape 42"/>
          <p:cNvSpPr/>
          <p:nvPr/>
        </p:nvSpPr>
        <p:spPr>
          <a:xfrm>
            <a:off x="566928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731520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31520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permissions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3328416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48" name="Shape 46"/>
          <p:cNvSpPr/>
          <p:nvPr/>
        </p:nvSpPr>
        <p:spPr>
          <a:xfrm>
            <a:off x="4279392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443984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planning and creative direction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4443984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permission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7040880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2000" dirty="0"/>
          </a:p>
        </p:txBody>
      </p:sp>
      <p:sp>
        <p:nvSpPr>
          <p:cNvPr id="52" name="Shape 50"/>
          <p:cNvSpPr/>
          <p:nvPr/>
        </p:nvSpPr>
        <p:spPr>
          <a:xfrm>
            <a:off x="7991856" y="50292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8156448" y="50840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Art Director and Super Admin</a:t>
            </a:r>
            <a:endParaRPr lang="en-US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8156448" y="5440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permissions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10753344" y="51206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56" name="Shape 54"/>
          <p:cNvSpPr/>
          <p:nvPr/>
        </p:nvSpPr>
        <p:spPr>
          <a:xfrm>
            <a:off x="566928" y="5943600"/>
            <a:ext cx="3493008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731520" y="5998464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only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731520" y="63550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permissions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3328416" y="6035040"/>
            <a:ext cx="5669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0" name="Text 58"/>
          <p:cNvSpPr txBox="1"/>
          <p:nvPr/>
        </p:nvSpPr>
        <p:spPr>
          <a:xfrm>
            <a:off x="566928" y="59893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 number on each card is how many designations hold that band. Super Admin holds everything, including any permission added in future, without anybody switching it on.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screen decides what everybody else may do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designation, tick the actions it should hold, save.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change applies to everybody holding that designation, on their next request.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 holds every permission and cannot be edited down.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is written to the Activity Log — the designation, the permission and the direction.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Admin, and nobody else.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70441"/>
            <a:ext cx="5632704" cy="4082877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763047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permission grid for one designation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LOG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record that crosses every module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828800"/>
            <a:ext cx="49377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anybody takes, newest first, with the person’s name and designation.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person, module, action or date; search the text.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change has a before and an after, the entry shows both.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here can be edited or removed, from this screen or any other.</a:t>
            </a:r>
            <a:endParaRPr lang="en-US" sz="14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 history, the review trail and the time-sheet log all still exist — this is the view that crosses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5532120"/>
            <a:ext cx="4937760" cy="777240"/>
          </a:xfrm>
          <a:prstGeom prst="roundRect">
            <a:avLst>
              <a:gd name="adj" fmla="val 7059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55321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83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 </a:t>
            </a:r>
            <a:pPr indent="0" marL="0"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leadership — 7 designations. Readable, filterable, exportable, editable by nobody.</a:t>
            </a:r>
            <a:endParaRPr lang="en-US" sz="10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9320" y="1528779"/>
            <a:ext cx="5632704" cy="4166201"/>
          </a:xfrm>
          <a:prstGeom prst="rect">
            <a:avLst/>
          </a:prstGeom>
          <a:effectLst>
            <a:outerShdw sx="100000" sy="100000" kx="0" ky="0" algn="bl" rotWithShape="0" blurRad="177800" dist="50800" dir="5400000">
              <a:srgbClr val="000000">
                <a:alpha val="55000"/>
              </a:srgbClr>
            </a:outerShdw>
          </a:effectLst>
        </p:spPr>
      </p:pic>
      <p:sp>
        <p:nvSpPr>
          <p:cNvPr id="11" name="Text 8"/>
          <p:cNvSpPr txBox="1"/>
          <p:nvPr/>
        </p:nvSpPr>
        <p:spPr>
          <a:xfrm>
            <a:off x="5989320" y="5804709"/>
            <a:ext cx="5632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Log (first screenful).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B09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1171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84048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7F141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24128" y="38404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9A0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IT CURRENT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8686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documentation is built, not written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Screenshots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95528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by a script that signs in as each demo designation and drives the real buttons. A rebuild cannot leave last month’s picture behind.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279392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07992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Permission tables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07992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out of a pristine deployment, so they say what the software ships with rather than what somebody remembers.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91856" y="2011680"/>
            <a:ext cx="3493008" cy="2148840"/>
          </a:xfrm>
          <a:prstGeom prst="roundRect">
            <a:avLst>
              <a:gd name="adj" fmla="val 3404"/>
            </a:avLst>
          </a:prstGeom>
          <a:solidFill>
            <a:srgbClr val="1E1A19"/>
          </a:solidFill>
          <a:ln w="12700">
            <a:solidFill>
              <a:srgbClr val="2C2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0456" y="21945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83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bands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220456" y="2606040"/>
            <a:ext cx="3063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from those tables. A new permission appears in the manual on the next build with nobody editing it.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F1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new feature needs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480060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section in the right chapter of the manual, written as steps somebody can follow.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screenshot, added to the capture script so it is re-taken on every build.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role note naming the access band — which the permission tables already know about.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F4F1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slide here, if it is something a new joiner needs to know exists.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ZVKY FORGE - Studio Pipeline Overview</dc:title>
  <dc:subject>PptxGenJS Presentation</dc:subject>
  <dc:creator>ZVKY FORGE</dc:creator>
  <cp:lastModifiedBy>ZVKY FORGE</cp:lastModifiedBy>
  <cp:revision>1</cp:revision>
  <dcterms:created xsi:type="dcterms:W3CDTF">2026-09-05T13:19:15Z</dcterms:created>
  <dcterms:modified xsi:type="dcterms:W3CDTF">2026-09-05T13:19:15Z</dcterms:modified>
</cp:coreProperties>
</file>